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  <ns0:embeddedFont>
      <ns0:font typeface="JetBrains Mono"/>
      <ns0:bold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6d061965-2ce0-47b5-9cc5-b11052018bd1.fntdata" /><ns0:Relationship Id="rIdFont13" Type="http://schemas.openxmlformats.org/officeDocument/2006/relationships/font" Target="fonts/f6bcd0bc-d29f-4a48-8b01-81c5c1b29432.fntdata" /><ns0:Relationship Id="rIdFont14" Type="http://schemas.openxmlformats.org/officeDocument/2006/relationships/font" Target="fonts/20346a90-8026-4fa0-801a-93eca749dca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80819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011709"/>
            <a:ext cx="2781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2605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Order Progression: READY → SERVED →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55690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Demonstrating discrete-turn execution rules, phase latency invariants, and financial collection mechanics.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068859"/>
            <a:ext cx="26098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ORAL PRESENTATION • SEGMENT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68859"/>
            <a:ext cx="196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CT2003 Restaurant Rush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5219"/>
            <a:ext cx="1874490" cy="1401960"/>
          </a:xfrm>
          <a:prstGeom prst="roundRect">
            <a:avLst>
              <a:gd name="adj" fmla="val 81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4140" y="3091904"/>
            <a:ext cx="1874490" cy="1588591"/>
          </a:xfrm>
          <a:prstGeom prst="roundRect">
            <a:avLst>
              <a:gd name="adj" fmla="val 719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58680" y="3091904"/>
            <a:ext cx="1874490" cy="1588591"/>
          </a:xfrm>
          <a:prstGeom prst="roundRect">
            <a:avLst>
              <a:gd name="adj" fmla="val 719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33220" y="3091904"/>
            <a:ext cx="1874490" cy="1588591"/>
          </a:xfrm>
          <a:prstGeom prst="roundRect">
            <a:avLst>
              <a:gd name="adj" fmla="val 7195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07760" y="3185219"/>
            <a:ext cx="1874490" cy="1401960"/>
          </a:xfrm>
          <a:prstGeom prst="roundRect">
            <a:avLst>
              <a:gd name="adj" fmla="val 81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90" y="3810000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30" y="3810000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70" y="3810000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110" y="3810000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615" y="3428107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305" y="3334791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845" y="3334791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2435" y="3334791"/>
            <a:ext cx="1143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8876" y="3428107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DOMAIN STATE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Dish &amp; Guest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699569"/>
            <a:ext cx="19852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3975794"/>
            <a:ext cx="160779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Chef advances prep units each turn.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5115" y="3606254"/>
            <a:ext cx="19852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Plus Jakarta Sans"/>
              </a:rPr>
              <a:t>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5115" y="3882479"/>
            <a:ext cx="16077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E3A8A"/>
                </a:solidFill>
                <a:latin typeface="Plus Jakarta Sans"/>
              </a:rPr>
              <a:t>Last prep unit done. Waiter can serve next turn.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9655" y="3606254"/>
            <a:ext cx="19852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9655" y="3882479"/>
            <a:ext cx="16077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66534"/>
                </a:solidFill>
                <a:latin typeface="Plus Jakarta Sans"/>
              </a:rPr>
              <a:t>Waiter delivers plate. Freezes satisfaction decay.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4195" y="3606254"/>
            <a:ext cx="19852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C2D12"/>
                </a:solidFill>
                <a:latin typeface="Plus Jakarta Sans"/>
              </a:rPr>
              <a:t>READY_TO_PAY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4195" y="3882479"/>
            <a:ext cx="16077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A3412"/>
                </a:solidFill>
                <a:latin typeface="Plus Jakarta Sans"/>
              </a:rPr>
              <a:t>Completes 1 full turn eating. Queued for Cashier.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8735" y="3699569"/>
            <a:ext cx="19852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8735" y="3975794"/>
            <a:ext cx="160779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Revenue locked. Table freed for new diner.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5" y="3423344"/>
            <a:ext cx="895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JetBrains Mono"/>
              </a:rPr>
              <a:t>PHASE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5115" y="3330029"/>
            <a:ext cx="895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PHASE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9655" y="3330029"/>
            <a:ext cx="895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JetBrains Mono"/>
              </a:rPr>
              <a:t>PHASE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4195" y="3330029"/>
            <a:ext cx="895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A580C"/>
                </a:solidFill>
                <a:latin typeface="JetBrains Mono"/>
              </a:rPr>
              <a:t>PHASE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8735" y="3423344"/>
            <a:ext cx="895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JetBrains Mono"/>
              </a:rPr>
              <a:t>PHASE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73153" y="3252787"/>
            <a:ext cx="571500" cy="2286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73153" y="3719512"/>
            <a:ext cx="647700" cy="2286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73153" y="4186237"/>
            <a:ext cx="1114425" cy="228600"/>
          </a:xfrm>
          <a:prstGeom prst="roundRect">
            <a:avLst>
              <a:gd name="adj" fmla="val 1666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73153" y="4652962"/>
            <a:ext cx="981075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657475"/>
          <a:ext cx="10972797" cy="23241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97160"/>
                <a:gridCol w="2413992"/>
                <a:gridCol w="3072258"/>
                <a:gridCol w="2194470"/>
                <a:gridCol w="2194917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Turn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Staff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Order &amp; Guest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Satisfaction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Turn Lag Rule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JetBrains Mono"/>
                        </a:rPr>
                        <a:t>Turn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Chef cooks Prep Unit 2/2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76 (-8 decay applied)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Cannot serve same turn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JetBrains Mono"/>
                        </a:rPr>
                        <a:t>Turn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Waiter executes SERVE task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76 (Decay Frozen)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66534"/>
                          </a:solidFill>
                          <a:latin typeface="Plus Jakarta Sans"/>
                        </a:rPr>
                        <a:t>Eating phase begins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A580C"/>
                          </a:solidFill>
                          <a:latin typeface="JetBrains Mono"/>
                        </a:rPr>
                        <a:t>Turn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Customer eats for 1 full turn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76 (No decay)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Pays next turn earliest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JetBrains Mono"/>
                        </a:rPr>
                        <a:t>Turn 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Cashier collects payment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76 Recorded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+$18.00 to Revenue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EXECUTION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Pasta Order (2 Prep Units): Turn 3 → Turn 6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353" y="3290887"/>
            <a:ext cx="514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9353" y="3757612"/>
            <a:ext cx="590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Plus Jakarta Sans"/>
              </a:rPr>
              <a:t>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9353" y="4224337"/>
            <a:ext cx="1057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A3412"/>
                </a:solidFill>
                <a:latin typeface="Plus Jakarta Sans"/>
              </a:rPr>
              <a:t>READY_TO_PAY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9353" y="4691062"/>
            <a:ext cx="923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PAID &amp; FREED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5112"/>
            <a:ext cx="35052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05112"/>
            <a:ext cx="35052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5112"/>
            <a:ext cx="35052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805112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805112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805112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INVARIANTS &amp;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Architectural Invariants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48012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Same-Turn Service 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00437"/>
            <a:ext cx="29908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Waiter acts before Chef in Step 2/3 sequence. An order completed by Chef in Turn 3 was not READY when Waiter acted, enforcing mandatory +1 turn latency.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148012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Satisfaction Freezing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500437"/>
            <a:ext cx="2990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Step 5 decay only targets waiting/seated guests. Once state transitions to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SERVED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satisfaction loss is completely frozen for remaining 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148012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Automatic Cashier FIFO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500437"/>
            <a:ext cx="2990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Step 4 eating resolves automatically. Cashier processes oldest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READY_TO_PAY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customer without manager task expenditure.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19612" y="4609951"/>
            <a:ext cx="3152775" cy="3429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12531" y="1905000"/>
            <a:ext cx="2166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SEGMENT 3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228850"/>
            <a:ext cx="1000125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Strict Turn Sequencing Guarantees Deterministic Game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63230"/>
            <a:ext cx="7620000" cy="84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By enforcing domain-level invariants between 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Order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prep units and 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CustomerState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, financial accounting and satisfaction metrics remain perfectly predictable across every 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6015" y="4686151"/>
            <a:ext cx="355996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Plus Jakarta Sans"/>
              </a:rPr>
              <a:t>Ready for Segment 4 (VIP/Critic Behaviour)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