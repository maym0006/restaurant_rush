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62000" y="4808190"/>
            <a:ext cx="6858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62000" y="2526059"/>
            <a:ext cx="9101137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 dirty="0">
                <a:solidFill>
                  <a:srgbClr val="F8FAFC"/>
                </a:solidFill>
              </a:rPr>
              <a:t>Order Progression: READY → SERVED →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855690"/>
            <a:ext cx="6953250" cy="271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 dirty="0">
                <a:solidFill>
                  <a:srgbClr val="94A3B8"/>
                </a:solidFill>
              </a:rPr>
              <a:t>Demonstrating </a:t>
            </a:r>
            <a:r>
              <a:rPr lang="en-SG" sz="1500" dirty="0">
                <a:solidFill>
                  <a:srgbClr val="94A3B8"/>
                </a:solidFill>
              </a:rPr>
              <a:t>the turn from ready stage to payment stage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8675" y="1973609"/>
            <a:ext cx="1341714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94A3B8"/>
                </a:solidFill>
              </a:rPr>
              <a:t>CT2003 Restaurant Rush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85219"/>
            <a:ext cx="1990724" cy="1401960"/>
          </a:xfrm>
          <a:prstGeom prst="roundRect">
            <a:avLst>
              <a:gd name="adj" fmla="val 81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84140" y="3091904"/>
            <a:ext cx="1874490" cy="1588591"/>
          </a:xfrm>
          <a:prstGeom prst="roundRect">
            <a:avLst>
              <a:gd name="adj" fmla="val 7195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158680" y="3091904"/>
            <a:ext cx="1874490" cy="1588591"/>
          </a:xfrm>
          <a:prstGeom prst="roundRect">
            <a:avLst>
              <a:gd name="adj" fmla="val 7195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33220" y="3091904"/>
            <a:ext cx="1874490" cy="1588591"/>
          </a:xfrm>
          <a:prstGeom prst="roundRect">
            <a:avLst>
              <a:gd name="adj" fmla="val 7195"/>
            </a:avLst>
          </a:prstGeom>
          <a:solidFill>
            <a:srgbClr val="FFF7ED"/>
          </a:solidFill>
          <a:ln w="9525">
            <a:solidFill>
              <a:srgbClr val="FED7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707760" y="3185219"/>
            <a:ext cx="1874490" cy="1401960"/>
          </a:xfrm>
          <a:prstGeom prst="roundRect">
            <a:avLst>
              <a:gd name="adj" fmla="val 815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90" y="3810000"/>
            <a:ext cx="95250" cy="152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1030" y="3810000"/>
            <a:ext cx="95250" cy="152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5570" y="3810000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0110" y="3810000"/>
            <a:ext cx="95250" cy="1524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9600" y="762000"/>
            <a:ext cx="429630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0F172A"/>
                </a:solidFill>
              </a:rPr>
              <a:t>End-to-End Dish &amp; Guest Lifecycle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3699569"/>
            <a:ext cx="1788503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350" b="1" i="0" u="none" dirty="0">
                <a:solidFill>
                  <a:srgbClr val="0F172A"/>
                </a:solidFill>
              </a:rPr>
              <a:t>TAKE ORDER &amp; </a:t>
            </a:r>
            <a:r>
              <a:rPr sz="1350" b="1" i="0" u="none" dirty="0">
                <a:solidFill>
                  <a:srgbClr val="0F172A"/>
                </a:solidFill>
              </a:rPr>
              <a:t>COOKING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3975794"/>
            <a:ext cx="1607790" cy="37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lang="en-SG" sz="1050" dirty="0">
                <a:solidFill>
                  <a:srgbClr val="475569"/>
                </a:solidFill>
              </a:rPr>
              <a:t>Waiter take order and Chef prep the food</a:t>
            </a:r>
            <a:endParaRPr sz="1050" b="0" i="0" u="none" dirty="0">
              <a:solidFill>
                <a:srgbClr val="475569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65115" y="3606254"/>
            <a:ext cx="47891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E40AF"/>
                </a:solidFill>
              </a:rPr>
              <a:t>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5115" y="3882479"/>
            <a:ext cx="1607790" cy="37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>
                <a:solidFill>
                  <a:srgbClr val="1E3A8A"/>
                </a:solidFill>
              </a:rPr>
              <a:t>Last prep unit done. Waiter can serve next turn.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9655" y="3606254"/>
            <a:ext cx="558936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14532D"/>
                </a:solidFill>
              </a:rPr>
              <a:t>SERVED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9655" y="3882479"/>
            <a:ext cx="1607790" cy="372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>
                <a:solidFill>
                  <a:srgbClr val="166534"/>
                </a:solidFill>
              </a:rPr>
              <a:t>Waiter delivers plate. Freezes satisfaction.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4195" y="3606254"/>
            <a:ext cx="1108830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7C2D12"/>
                </a:solidFill>
              </a:rPr>
              <a:t>READY_TO_PAY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4195" y="3882479"/>
            <a:ext cx="160779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>
                <a:solidFill>
                  <a:srgbClr val="9A3412"/>
                </a:solidFill>
              </a:rPr>
              <a:t>Completes 1 full turn eating.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88735" y="3699569"/>
            <a:ext cx="339324" cy="2077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 dirty="0">
                <a:solidFill>
                  <a:srgbClr val="0F172A"/>
                </a:solidFill>
              </a:rPr>
              <a:t>PAID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88735" y="3975794"/>
            <a:ext cx="1607790" cy="373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050" b="0" i="0" u="none" dirty="0">
                <a:solidFill>
                  <a:srgbClr val="475569"/>
                </a:solidFill>
              </a:rPr>
              <a:t>Revenue locked. Table freed for new </a:t>
            </a:r>
            <a:r>
              <a:rPr lang="en-SG" sz="1050" dirty="0">
                <a:solidFill>
                  <a:srgbClr val="475569"/>
                </a:solidFill>
              </a:rPr>
              <a:t>customer</a:t>
            </a:r>
            <a:r>
              <a:rPr sz="1050" b="0" i="0" u="none" dirty="0">
                <a:solidFill>
                  <a:srgbClr val="475569"/>
                </a:solidFill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7215" y="3444329"/>
            <a:ext cx="49853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64748B"/>
                </a:solidFill>
              </a:rPr>
              <a:t>PHASE 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5115" y="3330029"/>
            <a:ext cx="49853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2563EB"/>
                </a:solidFill>
              </a:rPr>
              <a:t>PHASE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9655" y="3330029"/>
            <a:ext cx="49853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6A34A"/>
                </a:solidFill>
              </a:rPr>
              <a:t>PHASE 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4195" y="3330029"/>
            <a:ext cx="49853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EA580C"/>
                </a:solidFill>
              </a:rPr>
              <a:t>PHASE 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88735" y="3423344"/>
            <a:ext cx="498534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64748B"/>
                </a:solidFill>
              </a:rPr>
              <a:t>PHASE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273153" y="3252787"/>
            <a:ext cx="571500" cy="228600"/>
          </a:xfrm>
          <a:prstGeom prst="roundRect">
            <a:avLst>
              <a:gd name="adj" fmla="val 16666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273153" y="3719512"/>
            <a:ext cx="647700" cy="228600"/>
          </a:xfrm>
          <a:prstGeom prst="roundRect">
            <a:avLst>
              <a:gd name="adj" fmla="val 16666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73153" y="4186237"/>
            <a:ext cx="1114425" cy="228600"/>
          </a:xfrm>
          <a:prstGeom prst="roundRect">
            <a:avLst>
              <a:gd name="adj" fmla="val 16666"/>
            </a:avLst>
          </a:prstGeom>
          <a:solidFill>
            <a:srgbClr val="FFE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73153" y="4652962"/>
            <a:ext cx="981075" cy="228600"/>
          </a:xfrm>
          <a:prstGeom prst="roundRect">
            <a:avLst>
              <a:gd name="adj" fmla="val 16666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3055858"/>
              </p:ext>
            </p:extLst>
          </p:nvPr>
        </p:nvGraphicFramePr>
        <p:xfrm>
          <a:off x="609600" y="2657475"/>
          <a:ext cx="10972797" cy="2324100"/>
        </p:xfrm>
        <a:graphic>
          <a:graphicData uri="http://schemas.openxmlformats.org/drawingml/2006/table">
            <a:tbl>
              <a:tblPr/>
              <a:tblGrid>
                <a:gridCol w="1097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3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722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4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9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475569"/>
                          </a:solidFill>
                          <a:latin typeface="+mn-lt"/>
                        </a:rPr>
                        <a:t>Turn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475569"/>
                          </a:solidFill>
                          <a:latin typeface="+mn-lt"/>
                        </a:rPr>
                        <a:t>Staff 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475569"/>
                          </a:solidFill>
                          <a:latin typeface="+mn-lt"/>
                        </a:rPr>
                        <a:t>Order &amp; Guest 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475569"/>
                          </a:solidFill>
                          <a:latin typeface="+mn-lt"/>
                        </a:rPr>
                        <a:t>Satisfaction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475569"/>
                          </a:solidFill>
                          <a:latin typeface="+mn-lt"/>
                        </a:rPr>
                        <a:t>Turn Lag Rule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2563EB"/>
                          </a:solidFill>
                          <a:latin typeface="+mn-lt"/>
                        </a:rPr>
                        <a:t>Turn </a:t>
                      </a:r>
                      <a:r>
                        <a:rPr lang="en-SG" sz="1125" b="1" i="0" u="none" dirty="0">
                          <a:solidFill>
                            <a:srgbClr val="2563EB"/>
                          </a:solidFill>
                          <a:latin typeface="+mn-lt"/>
                        </a:rPr>
                        <a:t>2</a:t>
                      </a:r>
                      <a:endParaRPr sz="1125" b="1" i="0" u="none" dirty="0">
                        <a:solidFill>
                          <a:srgbClr val="2563EB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1E293B"/>
                          </a:solidFill>
                          <a:latin typeface="+mn-lt"/>
                        </a:rPr>
                        <a:t>Chef cooks Prep Unit 2/2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125" b="1" i="0" u="none" dirty="0">
                          <a:solidFill>
                            <a:srgbClr val="DC2626"/>
                          </a:solidFill>
                          <a:latin typeface="+mn-lt"/>
                        </a:rPr>
                        <a:t>92</a:t>
                      </a:r>
                      <a:endParaRPr sz="1125" b="1" i="0" u="none" dirty="0">
                        <a:solidFill>
                          <a:srgbClr val="DC2626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>
                          <a:solidFill>
                            <a:srgbClr val="64748B"/>
                          </a:solidFill>
                          <a:latin typeface="+mn-lt"/>
                        </a:rPr>
                        <a:t>Cannot serve same turn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16A34A"/>
                          </a:solidFill>
                          <a:latin typeface="+mn-lt"/>
                        </a:rPr>
                        <a:t>Turn </a:t>
                      </a:r>
                      <a:r>
                        <a:rPr lang="en-SG" sz="1125" b="1" i="0" u="none" dirty="0">
                          <a:solidFill>
                            <a:srgbClr val="16A34A"/>
                          </a:solidFill>
                          <a:latin typeface="+mn-lt"/>
                        </a:rPr>
                        <a:t>3</a:t>
                      </a:r>
                      <a:endParaRPr sz="1125" b="1" i="0" u="none" dirty="0">
                        <a:solidFill>
                          <a:srgbClr val="16A34A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1E293B"/>
                          </a:solidFill>
                          <a:latin typeface="+mn-lt"/>
                        </a:rPr>
                        <a:t>Waiter </a:t>
                      </a:r>
                      <a:r>
                        <a:rPr lang="en-SG" sz="1125" b="1" i="0" u="none" dirty="0">
                          <a:solidFill>
                            <a:srgbClr val="1E293B"/>
                          </a:solidFill>
                          <a:latin typeface="+mn-lt"/>
                        </a:rPr>
                        <a:t>serve the food</a:t>
                      </a:r>
                      <a:endParaRPr sz="1125" b="1" i="0" u="none" dirty="0">
                        <a:solidFill>
                          <a:srgbClr val="1E293B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125" b="1" i="0" u="none" dirty="0">
                          <a:solidFill>
                            <a:srgbClr val="16A34A"/>
                          </a:solidFill>
                          <a:latin typeface="+mn-lt"/>
                        </a:rPr>
                        <a:t>84</a:t>
                      </a:r>
                      <a:r>
                        <a:rPr sz="1125" b="1" i="0" u="none" dirty="0">
                          <a:solidFill>
                            <a:srgbClr val="16A34A"/>
                          </a:solidFill>
                          <a:latin typeface="+mn-lt"/>
                        </a:rPr>
                        <a:t> (Frozen)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166534"/>
                          </a:solidFill>
                          <a:latin typeface="+mn-lt"/>
                        </a:rPr>
                        <a:t>Eating phase begins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EA580C"/>
                          </a:solidFill>
                          <a:latin typeface="+mn-lt"/>
                        </a:rPr>
                        <a:t>Turn </a:t>
                      </a:r>
                      <a:r>
                        <a:rPr lang="en-SG" sz="1125" b="1" i="0" u="none" dirty="0">
                          <a:solidFill>
                            <a:srgbClr val="EA580C"/>
                          </a:solidFill>
                          <a:latin typeface="+mn-lt"/>
                        </a:rPr>
                        <a:t>4</a:t>
                      </a:r>
                      <a:endParaRPr sz="1125" b="1" i="0" u="none" dirty="0">
                        <a:solidFill>
                          <a:srgbClr val="EA580C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1E293B"/>
                          </a:solidFill>
                          <a:latin typeface="+mn-lt"/>
                        </a:rPr>
                        <a:t>Customer eats for 1 full turn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125" b="1" i="0" u="none" dirty="0">
                          <a:solidFill>
                            <a:srgbClr val="16A34A"/>
                          </a:solidFill>
                          <a:latin typeface="+mn-lt"/>
                        </a:rPr>
                        <a:t>84</a:t>
                      </a:r>
                      <a:endParaRPr sz="1125" b="1" i="0" u="none" dirty="0">
                        <a:solidFill>
                          <a:srgbClr val="16A34A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 dirty="0">
                          <a:solidFill>
                            <a:srgbClr val="64748B"/>
                          </a:solidFill>
                          <a:latin typeface="+mn-lt"/>
                        </a:rPr>
                        <a:t>Pays next turn earliest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059669"/>
                          </a:solidFill>
                          <a:latin typeface="+mn-lt"/>
                        </a:rPr>
                        <a:t>Turn </a:t>
                      </a:r>
                      <a:r>
                        <a:rPr lang="en-SG" sz="1125" b="1" i="0" u="none" dirty="0">
                          <a:solidFill>
                            <a:srgbClr val="059669"/>
                          </a:solidFill>
                          <a:latin typeface="+mn-lt"/>
                        </a:rPr>
                        <a:t>5</a:t>
                      </a:r>
                      <a:endParaRPr sz="1125" b="1" i="0" u="none" dirty="0">
                        <a:solidFill>
                          <a:srgbClr val="059669"/>
                        </a:solidFill>
                        <a:latin typeface="+mn-lt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 dirty="0">
                          <a:solidFill>
                            <a:srgbClr val="1E293B"/>
                          </a:solidFill>
                          <a:latin typeface="+mn-lt"/>
                        </a:rPr>
                        <a:t>Cashier collects payment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G" sz="1125" b="1" i="0" u="none" dirty="0">
                          <a:solidFill>
                            <a:srgbClr val="059669"/>
                          </a:solidFill>
                          <a:latin typeface="+mn-lt"/>
                        </a:rPr>
                        <a:t>84</a:t>
                      </a:r>
                      <a:r>
                        <a:rPr sz="1125" b="1" i="0" u="none" dirty="0">
                          <a:solidFill>
                            <a:srgbClr val="059669"/>
                          </a:solidFill>
                          <a:latin typeface="+mn-lt"/>
                        </a:rPr>
                        <a:t> Recorded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059669"/>
                          </a:solidFill>
                          <a:latin typeface="+mn-lt"/>
                        </a:rPr>
                        <a:t>+$18.00 to Revenue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666750"/>
            <a:ext cx="4741426" cy="32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2100" b="1" i="0" u="none" dirty="0">
                <a:solidFill>
                  <a:srgbClr val="0F172A"/>
                </a:solidFill>
              </a:rPr>
              <a:t>Pasta</a:t>
            </a:r>
            <a:r>
              <a:rPr sz="2100" b="1" i="0" u="none" dirty="0">
                <a:solidFill>
                  <a:srgbClr val="0F172A"/>
                </a:solidFill>
              </a:rPr>
              <a:t> (2 Prep Units): Turn </a:t>
            </a:r>
            <a:r>
              <a:rPr lang="en-SG" sz="2100" b="1" i="0" u="none" dirty="0">
                <a:solidFill>
                  <a:srgbClr val="0F172A"/>
                </a:solidFill>
              </a:rPr>
              <a:t>2</a:t>
            </a:r>
            <a:r>
              <a:rPr sz="2100" b="1" i="0" u="none" dirty="0">
                <a:solidFill>
                  <a:srgbClr val="0F172A"/>
                </a:solidFill>
              </a:rPr>
              <a:t> → Turn </a:t>
            </a:r>
            <a:r>
              <a:rPr lang="en-SG" sz="2100" b="1" i="0" u="none" dirty="0">
                <a:solidFill>
                  <a:srgbClr val="0F172A"/>
                </a:solidFill>
              </a:rPr>
              <a:t>5</a:t>
            </a:r>
            <a:r>
              <a:rPr sz="2100" b="1" i="0" u="none" dirty="0">
                <a:solidFill>
                  <a:srgbClr val="0F172A"/>
                </a:solidFill>
              </a:rPr>
              <a:t> Trace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353" y="3290887"/>
            <a:ext cx="5143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E40AF"/>
                </a:solidFill>
              </a:rPr>
              <a:t>READY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30303" y="3757612"/>
            <a:ext cx="5905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166534"/>
                </a:solidFill>
              </a:rPr>
              <a:t>SERVED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9353" y="4224337"/>
            <a:ext cx="10572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9A3412"/>
                </a:solidFill>
              </a:rPr>
              <a:t>READY_TO_PAY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9353" y="4691062"/>
            <a:ext cx="92392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 dirty="0">
                <a:solidFill>
                  <a:srgbClr val="334155"/>
                </a:solidFill>
              </a:rPr>
              <a:t>PAID &amp; FREED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170</Words>
  <Application>Microsoft Office PowerPoint</Application>
  <PresentationFormat>Widescreen</PresentationFormat>
  <Paragraphs>45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 WEI LIONG</cp:lastModifiedBy>
  <cp:revision>6</cp:revision>
  <dcterms:created xsi:type="dcterms:W3CDTF">2013-01-27T09:14:16Z</dcterms:created>
  <dcterms:modified xsi:type="dcterms:W3CDTF">2026-10-31T15:34:47Z</dcterms:modified>
  <cp:category/>
</cp:coreProperties>
</file>